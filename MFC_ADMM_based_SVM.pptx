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9" r:id="rId5"/>
    <p:sldId id="260" r:id="rId6"/>
    <p:sldId id="261" r:id="rId7"/>
    <p:sldId id="271" r:id="rId8"/>
    <p:sldId id="262" r:id="rId9"/>
    <p:sldId id="268" r:id="rId10"/>
    <p:sldId id="272" r:id="rId11"/>
    <p:sldId id="274" r:id="rId12"/>
    <p:sldId id="270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76684-C37F-4098-8142-DC4AC8B63385}" v="159" dt="2025-08-22T06:10:17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5710-FA76-28F1-0E97-0EA2A3F64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070" y="1478729"/>
            <a:ext cx="11592775" cy="147501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Effect Of Network Topology On The Performance Of ADMM-based SVMs</a:t>
            </a:r>
            <a:endParaRPr lang="en-IN" sz="4000" b="1" dirty="0">
              <a:solidFill>
                <a:srgbClr val="7030A0"/>
              </a:solidFill>
            </a:endParaRPr>
          </a:p>
        </p:txBody>
      </p:sp>
      <p:pic>
        <p:nvPicPr>
          <p:cNvPr id="4" name="Picture 3" descr="Amrita Vishwa Vidyapeetham Logo PNG Vector (SVG) Free Download">
            <a:extLst>
              <a:ext uri="{FF2B5EF4-FFF2-40B4-BE49-F238E27FC236}">
                <a16:creationId xmlns:a16="http://schemas.microsoft.com/office/drawing/2014/main" id="{6C653950-55B8-15F2-CF12-11278674D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26" y="26796"/>
            <a:ext cx="4923874" cy="10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716D80-D04D-E8C5-D1D1-79A33CD9001F}"/>
              </a:ext>
            </a:extLst>
          </p:cNvPr>
          <p:cNvSpPr txBox="1"/>
          <p:nvPr/>
        </p:nvSpPr>
        <p:spPr>
          <a:xfrm>
            <a:off x="1474838" y="3312226"/>
            <a:ext cx="77576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2800" b="1" u="sng" kern="0" dirty="0">
                <a:solidFill>
                  <a:schemeClr val="bg1"/>
                </a:solidFill>
                <a:latin typeface="Century Gothic" panose="020B0502020202020204" pitchFamily="34" charset="0"/>
              </a:rPr>
              <a:t>Team</a:t>
            </a:r>
            <a:r>
              <a:rPr kumimoji="0" 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sym typeface="Overpass"/>
              </a:rPr>
              <a:t> 12 (AIE-C):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sym typeface="Overpas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sym typeface="Overpass"/>
              </a:rPr>
              <a:t>A. Charan Kumar Reddy (CB.SC.UAIE24207)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sym typeface="Overpass"/>
              </a:rPr>
              <a:t>Naveen K (CB.SC.U4AIE24235)</a:t>
            </a:r>
          </a:p>
          <a:p>
            <a:pPr marL="0" indent="0" defTabSz="914400">
              <a:buClr>
                <a:srgbClr val="000000"/>
              </a:buClr>
              <a:buSzPts val="1100"/>
              <a:defRPr/>
            </a:pPr>
            <a:r>
              <a:rPr lang="en-US" sz="2800" b="1" kern="0" dirty="0">
                <a:solidFill>
                  <a:schemeClr val="bg1"/>
                </a:solidFill>
                <a:latin typeface="Century Gothic" panose="020B0502020202020204" pitchFamily="34" charset="0"/>
              </a:rPr>
              <a:t>B Sai Kushal (CB.SC.U4AIE24252)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B0502020202020204" pitchFamily="34" charset="0"/>
                <a:sym typeface="Overpass"/>
              </a:rPr>
              <a:t>Subash B (CB.SC.U4AIE24254)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3059F-3ECB-641E-4485-47A93F5797BF}"/>
              </a:ext>
            </a:extLst>
          </p:cNvPr>
          <p:cNvSpPr txBox="1"/>
          <p:nvPr/>
        </p:nvSpPr>
        <p:spPr>
          <a:xfrm>
            <a:off x="491070" y="653156"/>
            <a:ext cx="61254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Montserrat" panose="020F0502020204030204" pitchFamily="2" charset="0"/>
              </a:rPr>
              <a:t>            22MAT220</a:t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Montserrat" panose="020F0502020204030204" pitchFamily="2" charset="0"/>
              </a:rPr>
              <a:t>Mathematics for Computing 3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66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BC5-A3FD-4D74-3B11-5615834C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229A-2B8D-50C5-D081-63BCA0B1C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44" y="1715956"/>
            <a:ext cx="11610808" cy="5065878"/>
          </a:xfrm>
        </p:spPr>
        <p:txBody>
          <a:bodyPr>
            <a:normAutofit/>
          </a:bodyPr>
          <a:lstStyle/>
          <a:p>
            <a:r>
              <a:rPr lang="en-US" sz="3200" dirty="0"/>
              <a:t>Large-scale machine learning requires </a:t>
            </a:r>
            <a:r>
              <a:rPr lang="en-US" sz="3200" b="1" dirty="0"/>
              <a:t>efficient distributed optimization</a:t>
            </a:r>
            <a:r>
              <a:rPr lang="en-US" sz="3200" dirty="0"/>
              <a:t>. </a:t>
            </a:r>
          </a:p>
          <a:p>
            <a:r>
              <a:rPr lang="en-US" sz="3200" dirty="0"/>
              <a:t>Serial methods are no longer capable of solving today’s large problems due to the lack of scalability.</a:t>
            </a:r>
          </a:p>
          <a:p>
            <a:r>
              <a:rPr lang="en-US" sz="3200" dirty="0"/>
              <a:t>centralized parallel optimization methods may perform poorly due to communication overheads.</a:t>
            </a:r>
          </a:p>
          <a:p>
            <a:r>
              <a:rPr lang="en-US" sz="3200" dirty="0"/>
              <a:t>Need to identify </a:t>
            </a:r>
            <a:r>
              <a:rPr lang="en-US" sz="3200" b="1" dirty="0"/>
              <a:t>which topologies accelerate convergence</a:t>
            </a:r>
            <a:r>
              <a:rPr lang="en-US" sz="3200" dirty="0"/>
              <a:t> while maintaining scalability.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3182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8F2B-5824-9095-0230-5BA9A8A9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316B-0EE9-0AE9-37AF-BDDDB2086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628491"/>
            <a:ext cx="11029615" cy="3623599"/>
          </a:xfrm>
        </p:spPr>
        <p:txBody>
          <a:bodyPr>
            <a:noAutofit/>
          </a:bodyPr>
          <a:lstStyle/>
          <a:p>
            <a:r>
              <a:rPr lang="en-US" sz="3200" dirty="0"/>
              <a:t>Develop and evaluate ADMM-SVM training over different network topologies.</a:t>
            </a:r>
          </a:p>
          <a:p>
            <a:r>
              <a:rPr lang="en-US" sz="3200" dirty="0"/>
              <a:t>Use d-regular random graphs to represent communication networks.</a:t>
            </a:r>
          </a:p>
          <a:p>
            <a:r>
              <a:rPr lang="en-US" sz="3200" dirty="0"/>
              <a:t>Measure impact on number of iterations, training time, and classification accuracy.</a:t>
            </a:r>
          </a:p>
          <a:p>
            <a:r>
              <a:rPr lang="en-US" sz="3200" dirty="0"/>
              <a:t>Comparison of SVM and ADMM-SVM that demonstrates the justification of ADMM usage in this project.</a:t>
            </a:r>
            <a:br>
              <a:rPr lang="en-US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0807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E8E8-3BA3-908A-5D4D-3E696501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workflow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24A7E-25EC-B312-1086-E120E9748EA1}"/>
              </a:ext>
            </a:extLst>
          </p:cNvPr>
          <p:cNvSpPr txBox="1"/>
          <p:nvPr/>
        </p:nvSpPr>
        <p:spPr>
          <a:xfrm>
            <a:off x="471947" y="2025908"/>
            <a:ext cx="105598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800" dirty="0"/>
              <a:t>Build a Distributed Consensus-ADMM SVM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FontTx/>
              <a:buAutoNum type="arabicParenR"/>
            </a:pPr>
            <a:r>
              <a:rPr lang="en-US" sz="2800" dirty="0"/>
              <a:t>Design the Network Topology (d-regular Graphs)</a:t>
            </a:r>
          </a:p>
          <a:p>
            <a:pPr marL="342900" indent="-342900">
              <a:buAutoNum type="arabicParenR"/>
            </a:pPr>
            <a:endParaRPr lang="en-IN" sz="2800" dirty="0"/>
          </a:p>
          <a:p>
            <a:pPr marL="342900" indent="-342900">
              <a:buAutoNum type="arabicParenR"/>
            </a:pPr>
            <a:r>
              <a:rPr lang="en-IN" sz="2800" dirty="0"/>
              <a:t>Dataset Preparation</a:t>
            </a:r>
          </a:p>
          <a:p>
            <a:pPr marL="342900" indent="-342900">
              <a:buAutoNum type="arabicParenR"/>
            </a:pPr>
            <a:endParaRPr lang="en-IN" sz="2800" dirty="0"/>
          </a:p>
          <a:p>
            <a:pPr marL="342900" indent="-342900">
              <a:buAutoNum type="arabicParenR"/>
            </a:pPr>
            <a:r>
              <a:rPr lang="en-US" sz="2800" dirty="0"/>
              <a:t>Normalize and Preprocess the Data</a:t>
            </a:r>
          </a:p>
          <a:p>
            <a:pPr marL="342900" indent="-342900">
              <a:buAutoNum type="arabicParenR"/>
            </a:pPr>
            <a:endParaRPr lang="en-US" sz="2800" dirty="0"/>
          </a:p>
          <a:p>
            <a:pPr marL="342900" indent="-342900">
              <a:buAutoNum type="arabicParenR"/>
            </a:pPr>
            <a:r>
              <a:rPr lang="en-US" sz="2800" dirty="0"/>
              <a:t>Train the Model on Each Dataset </a:t>
            </a:r>
            <a:r>
              <a:rPr lang="en-IN" sz="2800" dirty="0"/>
              <a:t>&amp; Topology</a:t>
            </a:r>
          </a:p>
          <a:p>
            <a:pPr marL="342900" indent="-342900">
              <a:buAutoNum type="arabicParenR"/>
            </a:pPr>
            <a:endParaRPr lang="en-IN" sz="2800" dirty="0"/>
          </a:p>
          <a:p>
            <a:pPr marL="342900" indent="-342900">
              <a:buAutoNum type="arabicParenR"/>
            </a:pPr>
            <a:r>
              <a:rPr lang="en-US" sz="2800" dirty="0"/>
              <a:t>Plot and Analyze the Results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974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FECA-86A2-5C3D-D9C8-4A30701A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 (SVM) - Overview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79D35-3555-B53C-5D41-79C80C14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6857"/>
            <a:ext cx="11029615" cy="4042229"/>
          </a:xfrm>
        </p:spPr>
        <p:txBody>
          <a:bodyPr/>
          <a:lstStyle/>
          <a:p>
            <a:r>
              <a:rPr lang="en-US" sz="2400" dirty="0"/>
              <a:t>Supervised learning technique for classification.</a:t>
            </a:r>
          </a:p>
          <a:p>
            <a:r>
              <a:rPr lang="en-US" sz="2400" dirty="0"/>
              <a:t>Finds hyperplane maximizing margin between two classes.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F004F1-C638-EF98-0942-D5FDD948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41" y="3779562"/>
            <a:ext cx="5759746" cy="19114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C0A1BE-18A9-E3BA-3032-F46F695ED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114" y="4573352"/>
            <a:ext cx="4057859" cy="2235315"/>
          </a:xfrm>
          <a:prstGeom prst="rect">
            <a:avLst/>
          </a:prstGeom>
        </p:spPr>
      </p:pic>
      <p:pic>
        <p:nvPicPr>
          <p:cNvPr id="2050" name="Picture 2" descr="Support Vector Machines (SVM) Made Simple &amp; How To Tutorial">
            <a:extLst>
              <a:ext uri="{FF2B5EF4-FFF2-40B4-BE49-F238E27FC236}">
                <a16:creationId xmlns:a16="http://schemas.microsoft.com/office/drawing/2014/main" id="{B0FA1017-2459-8FCA-E245-B17A983CBD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6" t="11156" r="21695" b="2868"/>
          <a:stretch>
            <a:fillRect/>
          </a:stretch>
        </p:blipFill>
        <p:spPr bwMode="auto">
          <a:xfrm>
            <a:off x="8031519" y="1797075"/>
            <a:ext cx="3637937" cy="2938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88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5BEB-8759-9A9D-6F8E-07490628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Alternating Direction Method of Multipliers (ADMM) - Overview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9F1B-85AA-54EC-01AD-71EC51D6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782529"/>
            <a:ext cx="11256847" cy="2959510"/>
          </a:xfrm>
        </p:spPr>
        <p:txBody>
          <a:bodyPr>
            <a:noAutofit/>
          </a:bodyPr>
          <a:lstStyle/>
          <a:p>
            <a:r>
              <a:rPr lang="en-US" sz="2000" b="1" dirty="0"/>
              <a:t>Decomposes optimization into subproblems for distributed solving</a:t>
            </a:r>
          </a:p>
          <a:p>
            <a:r>
              <a:rPr lang="en-US" sz="2000" b="1" dirty="0"/>
              <a:t>The optimization problems of the following form can be solved using ADMM.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/>
              <a:t>Distributed consensus-based optimization can be formalized as 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Each node solves local subproblem, communicates only with neighbors</a:t>
            </a:r>
          </a:p>
          <a:p>
            <a:r>
              <a:rPr lang="en-US" sz="2000" b="1" dirty="0"/>
              <a:t>Iteratively enforces consensus with convergence guarantees for convex problems</a:t>
            </a:r>
            <a:endParaRPr lang="en-IN" sz="2000" b="1" dirty="0"/>
          </a:p>
        </p:txBody>
      </p:sp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EC8494A-4C58-926E-BB18-4E337635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9" t="1382" r="3069" b="9392"/>
          <a:stretch>
            <a:fillRect/>
          </a:stretch>
        </p:blipFill>
        <p:spPr>
          <a:xfrm>
            <a:off x="4139378" y="4709652"/>
            <a:ext cx="3274143" cy="8630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C5DB7-C67A-3EF5-E5ED-2ABD57B7AE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73" r="12738" b="7572"/>
          <a:stretch>
            <a:fillRect/>
          </a:stretch>
        </p:blipFill>
        <p:spPr>
          <a:xfrm>
            <a:off x="4214993" y="3016412"/>
            <a:ext cx="1994622" cy="82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21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86C0-3260-3C2A-949E-F23FFE19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2122AC-FE4C-19A0-1A48-19A9AF46D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6" t="5249" r="2750" b="13579"/>
          <a:stretch>
            <a:fillRect/>
          </a:stretch>
        </p:blipFill>
        <p:spPr>
          <a:xfrm>
            <a:off x="845573" y="2036503"/>
            <a:ext cx="7449879" cy="2250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45D632-C3B9-5626-B012-BE9305265E15}"/>
              </a:ext>
            </a:extLst>
          </p:cNvPr>
          <p:cNvSpPr txBox="1"/>
          <p:nvPr/>
        </p:nvSpPr>
        <p:spPr>
          <a:xfrm>
            <a:off x="113777" y="4180344"/>
            <a:ext cx="120782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Ionosphere</a:t>
            </a:r>
            <a:r>
              <a:rPr lang="en-US" sz="2400" dirty="0"/>
              <a:t>     → contains radar signals as "good" or "bad" , (good, bad)=(+1,-1)</a:t>
            </a:r>
          </a:p>
          <a:p>
            <a:r>
              <a:rPr lang="en-IN" sz="2400" b="1" dirty="0"/>
              <a:t>Svmguide</a:t>
            </a:r>
            <a:r>
              <a:rPr lang="en-IN" sz="2400" dirty="0"/>
              <a:t>       → </a:t>
            </a:r>
            <a:r>
              <a:rPr lang="en-US" sz="2400" dirty="0"/>
              <a:t>Contains benchmark feature vectors with </a:t>
            </a:r>
            <a:r>
              <a:rPr lang="en-US" sz="2400" b="1" dirty="0"/>
              <a:t>two class labels: +1 and -1</a:t>
            </a:r>
            <a:endParaRPr lang="en-US" sz="2400" dirty="0"/>
          </a:p>
          <a:p>
            <a:r>
              <a:rPr lang="en-US" sz="2400" b="1" dirty="0"/>
              <a:t>Phishing</a:t>
            </a:r>
            <a:r>
              <a:rPr lang="en-US" sz="2400" dirty="0"/>
              <a:t>          → distinguishes between "phishing" and "legitimate" websites, (phishing,      legitimate)=(+1,-1)</a:t>
            </a:r>
          </a:p>
          <a:p>
            <a:r>
              <a:rPr lang="en-US" sz="2400" b="1" dirty="0"/>
              <a:t>A9a (Adult)</a:t>
            </a:r>
            <a:r>
              <a:rPr lang="en-US" sz="2400" dirty="0"/>
              <a:t>    → predicts whether income is "≤50K" or "&gt;50K". (&gt;50K, ≤ -50K)=(+1,-1)</a:t>
            </a:r>
          </a:p>
          <a:p>
            <a:r>
              <a:rPr lang="en-US" sz="2400" b="1" dirty="0"/>
              <a:t>IJCNN</a:t>
            </a:r>
            <a:r>
              <a:rPr lang="en-US" sz="2400" dirty="0"/>
              <a:t>             → Competition dataset with </a:t>
            </a:r>
            <a:r>
              <a:rPr lang="en-US" sz="2400" b="1" dirty="0"/>
              <a:t>two classes: +1 and -1</a:t>
            </a:r>
            <a:endParaRPr lang="en-US" sz="2400" dirty="0"/>
          </a:p>
          <a:p>
            <a:r>
              <a:rPr lang="en-IN" sz="2400" b="1" dirty="0"/>
              <a:t>Skin/Non-skin </a:t>
            </a:r>
            <a:r>
              <a:rPr lang="en-US" sz="2400" dirty="0"/>
              <a:t>→ Contains RGB (Red, Green, Blue) taken from images, (skin, Nonskin)=(+1,-1)</a:t>
            </a:r>
            <a:endParaRPr lang="en-IN" sz="2400" dirty="0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3E350C4-A674-8075-146B-D1ADDFDDBB1E}"/>
              </a:ext>
            </a:extLst>
          </p:cNvPr>
          <p:cNvSpPr/>
          <p:nvPr/>
        </p:nvSpPr>
        <p:spPr>
          <a:xfrm>
            <a:off x="8295452" y="2448232"/>
            <a:ext cx="731796" cy="491613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6137C-94F1-A228-823F-69C3BF4B73EA}"/>
              </a:ext>
            </a:extLst>
          </p:cNvPr>
          <p:cNvSpPr txBox="1"/>
          <p:nvPr/>
        </p:nvSpPr>
        <p:spPr>
          <a:xfrm>
            <a:off x="9163665" y="24482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G1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F8FACA1-A426-31B5-212B-C912CC0F6D41}"/>
              </a:ext>
            </a:extLst>
          </p:cNvPr>
          <p:cNvSpPr/>
          <p:nvPr/>
        </p:nvSpPr>
        <p:spPr>
          <a:xfrm>
            <a:off x="8295452" y="3136490"/>
            <a:ext cx="731796" cy="914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D0196-E898-0736-72E3-909ABBB8263F}"/>
              </a:ext>
            </a:extLst>
          </p:cNvPr>
          <p:cNvSpPr txBox="1"/>
          <p:nvPr/>
        </p:nvSpPr>
        <p:spPr>
          <a:xfrm>
            <a:off x="9163665" y="3429000"/>
            <a:ext cx="73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G2</a:t>
            </a:r>
          </a:p>
        </p:txBody>
      </p:sp>
    </p:spTree>
    <p:extLst>
      <p:ext uri="{BB962C8B-B14F-4D97-AF65-F5344CB8AC3E}">
        <p14:creationId xmlns:p14="http://schemas.microsoft.com/office/powerpoint/2010/main" val="410046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DA9E4-C220-5FD6-9AEC-E43459A8F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870195"/>
            <a:ext cx="11029616" cy="1013800"/>
          </a:xfrm>
        </p:spPr>
        <p:txBody>
          <a:bodyPr/>
          <a:lstStyle/>
          <a:p>
            <a:r>
              <a:rPr lang="en-IN" dirty="0"/>
              <a:t>Network Topology</a:t>
            </a:r>
            <a:br>
              <a:rPr lang="en-IN" dirty="0"/>
            </a:br>
            <a:endParaRPr lang="en-IN" dirty="0"/>
          </a:p>
        </p:txBody>
      </p:sp>
      <p:pic>
        <p:nvPicPr>
          <p:cNvPr id="4098" name="Picture 2" descr="Network Topology - GeeksforGeeks">
            <a:extLst>
              <a:ext uri="{FF2B5EF4-FFF2-40B4-BE49-F238E27FC236}">
                <a16:creationId xmlns:a16="http://schemas.microsoft.com/office/drawing/2014/main" id="{BE93B006-8284-C37E-D027-BA27B3DA91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7"/>
          <a:stretch>
            <a:fillRect/>
          </a:stretch>
        </p:blipFill>
        <p:spPr bwMode="auto">
          <a:xfrm>
            <a:off x="7983795" y="0"/>
            <a:ext cx="3814914" cy="201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CEA473-665A-D7C1-F4EF-120C9B5B0E30}"/>
              </a:ext>
            </a:extLst>
          </p:cNvPr>
          <p:cNvSpPr txBox="1"/>
          <p:nvPr/>
        </p:nvSpPr>
        <p:spPr>
          <a:xfrm>
            <a:off x="4788310" y="1426146"/>
            <a:ext cx="3087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Introduction</a:t>
            </a:r>
            <a:endParaRPr lang="en-IN" sz="32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E27EA2-8964-77E8-592A-C56DEA92AD3F}"/>
                  </a:ext>
                </a:extLst>
              </p:cNvPr>
              <p:cNvSpPr txBox="1"/>
              <p:nvPr/>
            </p:nvSpPr>
            <p:spPr>
              <a:xfrm>
                <a:off x="0" y="2141652"/>
                <a:ext cx="1238864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Network topology and the connectivity of the underlying graph have impact on the performance of network-based distributed algorithms in terms of convergence and the number of iterations until convergence.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The network is distributed with nodes as a graph G(V,E), where V ={1,2,3,...,n} is the set of the nodes and E ⊆ V ×V is the set of edges between nodes.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The network topology of the graph is shown by the corresponding adjacency matrix, </a:t>
                </a:r>
              </a:p>
              <a:p>
                <a:r>
                  <a:rPr lang="en-IN" sz="2400" dirty="0"/>
                  <a:t>                           where </a:t>
                </a:r>
              </a:p>
              <a:p>
                <a:endParaRPr lang="en-IN" sz="24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The Laplacian matrix </a:t>
                </a:r>
                <a:r>
                  <a:rPr lang="en-IN" sz="2400" dirty="0"/>
                  <a:t>L(A) </a:t>
                </a:r>
                <a:r>
                  <a:rPr lang="en-US" sz="2400" dirty="0"/>
                  <a:t>is used to define the spectral gap and connectivity of a network</a:t>
                </a:r>
              </a:p>
              <a:p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r>
                      <a:rPr lang="en-US" sz="2400" i="1" spc="-150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spc="-1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150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i="1" spc="-15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pc="-150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400" i="1" spc="-1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150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b="0" i="1" spc="-15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pc="-150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400" i="1" spc="-1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150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400" dirty="0"/>
                  <a:t>, where D(G) is diagonal matrix, diagonal entries are </a:t>
                </a:r>
                <a:r>
                  <a:rPr lang="en-US" sz="2400" b="1" dirty="0"/>
                  <a:t>degree</a:t>
                </a:r>
                <a:r>
                  <a:rPr lang="en-US" sz="2400" dirty="0"/>
                  <a:t> of node.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The algebraic connectivity or the spectral gap of a graph network is related to the non-trivial eigenvalues of A(G) and L(G).</a:t>
                </a:r>
                <a:endParaRPr lang="en-IN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E27EA2-8964-77E8-592A-C56DEA92A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41652"/>
                <a:ext cx="12388646" cy="4524315"/>
              </a:xfrm>
              <a:prstGeom prst="rect">
                <a:avLst/>
              </a:prstGeom>
              <a:blipFill>
                <a:blip r:embed="rId3"/>
                <a:stretch>
                  <a:fillRect l="-640" t="-1078" r="-492" b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9651B56-6624-6122-08E9-F1EB15214E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82" y="4403810"/>
            <a:ext cx="1911673" cy="4203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72C7EC-14E8-6A05-0865-B332B2E43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345" y="4403810"/>
            <a:ext cx="2321372" cy="63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3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BC9C-1EFE-2704-A11B-A69604C7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d- regular random graphs</a:t>
            </a:r>
            <a:endParaRPr lang="en-IN" sz="4400" dirty="0">
              <a:latin typeface="DGill Sans MT (Body)"/>
            </a:endParaRPr>
          </a:p>
        </p:txBody>
      </p:sp>
      <p:pic>
        <p:nvPicPr>
          <p:cNvPr id="1026" name="Picture 2" descr="Regular Graph in Graph Theory - GeeksforGeeks">
            <a:extLst>
              <a:ext uri="{FF2B5EF4-FFF2-40B4-BE49-F238E27FC236}">
                <a16:creationId xmlns:a16="http://schemas.microsoft.com/office/drawing/2014/main" id="{4B8B3C80-CF69-89C5-4DC7-EF66E8893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903" y="1186050"/>
            <a:ext cx="3932904" cy="208848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7343BA-FB19-6E8A-0999-B53299118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24" y="3274532"/>
            <a:ext cx="110296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d-regular graph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one where each node is connected to exactly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 neighbors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random d-regular graphs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connections are assigned randomly while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maintaining equal degree for all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are widely used as models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expander graphs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due to their strong connectivity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Such graphs ensure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uniform communication load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nodes in distributed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spectral gaps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d-regular random graphs lead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faster convergence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ADMM-based SVMs.</a:t>
            </a:r>
          </a:p>
        </p:txBody>
      </p:sp>
    </p:spTree>
    <p:extLst>
      <p:ext uri="{BB962C8B-B14F-4D97-AF65-F5344CB8AC3E}">
        <p14:creationId xmlns:p14="http://schemas.microsoft.com/office/powerpoint/2010/main" val="330395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E50F-0EAE-4FEC-F1C2-31A6E966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967D8-7D23-BEEA-F3B9-DA6DAAB41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7" t="1408" r="4785"/>
          <a:stretch>
            <a:fillRect/>
          </a:stretch>
        </p:blipFill>
        <p:spPr>
          <a:xfrm>
            <a:off x="230674" y="2001876"/>
            <a:ext cx="5781162" cy="4755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1328C7-7AD7-73A5-AB71-C08BEDA4E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23" t="3100" r="6783" b="3700"/>
          <a:stretch>
            <a:fillRect/>
          </a:stretch>
        </p:blipFill>
        <p:spPr>
          <a:xfrm>
            <a:off x="6322144" y="2001876"/>
            <a:ext cx="5639182" cy="4755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03A2F-6E29-5BFE-9203-25221E383E05}"/>
              </a:ext>
            </a:extLst>
          </p:cNvPr>
          <p:cNvSpPr txBox="1"/>
          <p:nvPr/>
        </p:nvSpPr>
        <p:spPr>
          <a:xfrm>
            <a:off x="4605822" y="1272122"/>
            <a:ext cx="2812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G1 Datasets</a:t>
            </a:r>
          </a:p>
        </p:txBody>
      </p:sp>
    </p:spTree>
    <p:extLst>
      <p:ext uri="{BB962C8B-B14F-4D97-AF65-F5344CB8AC3E}">
        <p14:creationId xmlns:p14="http://schemas.microsoft.com/office/powerpoint/2010/main" val="2900160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BAA45-E7FF-D38B-6951-3D6B39F6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5" t="3740" r="7437" b="2969"/>
          <a:stretch>
            <a:fillRect/>
          </a:stretch>
        </p:blipFill>
        <p:spPr>
          <a:xfrm>
            <a:off x="6322142" y="1780804"/>
            <a:ext cx="5732207" cy="48166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26B610-5A74-32F8-B504-C256EDDC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1" t="4672" r="5899"/>
          <a:stretch>
            <a:fillRect/>
          </a:stretch>
        </p:blipFill>
        <p:spPr>
          <a:xfrm>
            <a:off x="214854" y="1780803"/>
            <a:ext cx="5780646" cy="48166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DE8D7C-F371-333C-EECD-8140C66C4133}"/>
              </a:ext>
            </a:extLst>
          </p:cNvPr>
          <p:cNvSpPr txBox="1"/>
          <p:nvPr/>
        </p:nvSpPr>
        <p:spPr>
          <a:xfrm>
            <a:off x="757084" y="727587"/>
            <a:ext cx="2772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G2 Datasets</a:t>
            </a:r>
          </a:p>
        </p:txBody>
      </p:sp>
    </p:spTree>
    <p:extLst>
      <p:ext uri="{BB962C8B-B14F-4D97-AF65-F5344CB8AC3E}">
        <p14:creationId xmlns:p14="http://schemas.microsoft.com/office/powerpoint/2010/main" val="256049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1292-9FA0-7DFA-F326-FA9121E6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Future 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7F82A-ADDB-60FE-E212-197AB18CAECC}"/>
              </a:ext>
            </a:extLst>
          </p:cNvPr>
          <p:cNvSpPr txBox="1"/>
          <p:nvPr/>
        </p:nvSpPr>
        <p:spPr>
          <a:xfrm>
            <a:off x="575894" y="2202426"/>
            <a:ext cx="926619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3200" dirty="0"/>
              <a:t>Implement few more topologies namely Ring, Bus, Mesh</a:t>
            </a:r>
          </a:p>
          <a:p>
            <a:pPr marL="457200" indent="-457200">
              <a:buAutoNum type="arabicPeriod"/>
            </a:pPr>
            <a:endParaRPr lang="en-US" sz="3200" dirty="0"/>
          </a:p>
          <a:p>
            <a:pPr marL="457200" indent="-457200">
              <a:buAutoNum type="arabicPeriod"/>
            </a:pPr>
            <a:r>
              <a:rPr lang="en-US" sz="3200" dirty="0"/>
              <a:t>Classification plots of ADMM based SVM model for each dataset</a:t>
            </a:r>
          </a:p>
          <a:p>
            <a:pPr marL="457200" indent="-457200">
              <a:buAutoNum type="arabicPeriod"/>
            </a:pPr>
            <a:endParaRPr lang="en-US" sz="3200" b="1" dirty="0"/>
          </a:p>
          <a:p>
            <a:pPr marL="457200" indent="-457200">
              <a:buAutoNum type="arabicPeriod"/>
            </a:pPr>
            <a:r>
              <a:rPr lang="en-IN" sz="3200" dirty="0"/>
              <a:t>Comparison of SVM and Implemented ADMM based SVM</a:t>
            </a:r>
          </a:p>
        </p:txBody>
      </p:sp>
    </p:spTree>
    <p:extLst>
      <p:ext uri="{BB962C8B-B14F-4D97-AF65-F5344CB8AC3E}">
        <p14:creationId xmlns:p14="http://schemas.microsoft.com/office/powerpoint/2010/main" val="4113576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8C888-9FC3-5E13-7FC1-B5E2DC3A447D}"/>
              </a:ext>
            </a:extLst>
          </p:cNvPr>
          <p:cNvSpPr txBox="1"/>
          <p:nvPr/>
        </p:nvSpPr>
        <p:spPr>
          <a:xfrm>
            <a:off x="1928527" y="2323456"/>
            <a:ext cx="80905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dirty="0"/>
              <a:t>Thank You</a:t>
            </a:r>
          </a:p>
          <a:p>
            <a:endParaRPr lang="en-IN" sz="6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55308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2199</TotalTime>
  <Words>693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Baskerville Old Face</vt:lpstr>
      <vt:lpstr>Cambria Math</vt:lpstr>
      <vt:lpstr>Century Gothic</vt:lpstr>
      <vt:lpstr>DGill Sans MT (Body)</vt:lpstr>
      <vt:lpstr>Gill Sans MT</vt:lpstr>
      <vt:lpstr>Montserrat</vt:lpstr>
      <vt:lpstr>Wingdings</vt:lpstr>
      <vt:lpstr>Wingdings 2</vt:lpstr>
      <vt:lpstr>Dividend</vt:lpstr>
      <vt:lpstr>Effect Of Network Topology On The Performance Of ADMM-based SVMs</vt:lpstr>
      <vt:lpstr>Problem Statement </vt:lpstr>
      <vt:lpstr>Objective </vt:lpstr>
      <vt:lpstr>workflow</vt:lpstr>
      <vt:lpstr>Support Vector Machines (SVM) - Overview </vt:lpstr>
      <vt:lpstr> Alternating Direction Method of Multipliers (ADMM) - Overview </vt:lpstr>
      <vt:lpstr>datasets</vt:lpstr>
      <vt:lpstr>Network Topology </vt:lpstr>
      <vt:lpstr>d- regular random graphs</vt:lpstr>
      <vt:lpstr>Results</vt:lpstr>
      <vt:lpstr>PowerPoint Presentation</vt:lpstr>
      <vt:lpstr>Future 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AREPALLY CHARAN KUMAR REDDY</dc:creator>
  <cp:lastModifiedBy>AREPALLY CHARAN KUMAR REDDY</cp:lastModifiedBy>
  <cp:revision>3</cp:revision>
  <dcterms:created xsi:type="dcterms:W3CDTF">2025-08-21T18:38:27Z</dcterms:created>
  <dcterms:modified xsi:type="dcterms:W3CDTF">2025-08-27T12:49:31Z</dcterms:modified>
</cp:coreProperties>
</file>